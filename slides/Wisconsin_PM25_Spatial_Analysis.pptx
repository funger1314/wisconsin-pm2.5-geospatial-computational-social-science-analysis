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981C24"/>
          </a:solidFill>
          <a:ln>
            <a:solidFill>
              <a:srgbClr val="98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Air Pollution Patterns in Wisconsin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49377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County-level PM2.5 spatial analysis for 2024</a:t>
            </a:r>
          </a:p>
          <a:p>
            <a:pPr>
              <a:spcAft>
                <a:spcPts val="1000"/>
              </a:spcAft>
              <a:defRPr sz="1800"/>
            </a:pPr>
            <a:r>
              <a:t>Legacy replication plus portfolio-grade rebuild</a:t>
            </a:r>
          </a:p>
          <a:p>
            <a:pPr>
              <a:spcAft>
                <a:spcPts val="1000"/>
              </a:spcAft>
              <a:defRPr sz="1800"/>
            </a:pPr>
            <a:r>
              <a:t>Yifang Qiu contribution highlighted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A5A5A"/>
                </a:solidFill>
              </a:defRPr>
            </a:pPr>
            <a:r>
              <a:t>Sources: EPA Air Trends, EPA AirData, GeoData@Wisconsin, U.S. Census. Rebuild date: 2026-07-13.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981C24"/>
          </a:solidFill>
          <a:ln>
            <a:solidFill>
              <a:srgbClr val="98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Motivation and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49377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Which monitored counties had the highest descriptive annual mean PM2.5?</a:t>
            </a:r>
          </a:p>
          <a:p>
            <a:pPr>
              <a:spcAft>
                <a:spcPts val="1000"/>
              </a:spcAft>
              <a:defRPr sz="1800"/>
            </a:pPr>
            <a:r>
              <a:t>How sparse was Wisconsin's county monitor coverage?</a:t>
            </a:r>
          </a:p>
          <a:p>
            <a:pPr>
              <a:spcAft>
                <a:spcPts val="1000"/>
              </a:spcAft>
              <a:defRPr sz="1800"/>
            </a:pPr>
            <a:r>
              <a:t>Do monitored counties show robust spatial clustering?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A5A5A"/>
                </a:solidFill>
              </a:defRPr>
            </a:pPr>
            <a:r>
              <a:t>Sources: EPA Air Trends, EPA AirData, GeoData@Wisconsin, U.S. Census. Rebuild date: 2026-07-13.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981C24"/>
          </a:solidFill>
          <a:ln>
            <a:solidFill>
              <a:srgbClr val="98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Data Sources and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49377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EPA Air Trends / AirData references provide pollutant context.</a:t>
            </a:r>
          </a:p>
          <a:p>
            <a:pPr>
              <a:spcAft>
                <a:spcPts val="1000"/>
              </a:spcAft>
              <a:defRPr sz="1800"/>
            </a:pPr>
            <a:r>
              <a:t>GeoData@Wisconsin supplies the archived Wisconsin county boundary layer.</a:t>
            </a:r>
          </a:p>
          <a:p>
            <a:pPr>
              <a:spcAft>
                <a:spcPts val="1000"/>
              </a:spcAft>
              <a:defRPr sz="1800"/>
            </a:pPr>
            <a:r>
              <a:t>Population context uses supplied tables tied to the 2020 Census.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A5A5A"/>
                </a:solidFill>
              </a:defRPr>
            </a:pPr>
            <a:r>
              <a:t>Sources: EPA Air Trends, EPA AirData, GeoData@Wisconsin, U.S. Census. Rebuild date: 2026-07-13.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981C24"/>
          </a:solidFill>
          <a:ln>
            <a:solidFill>
              <a:srgbClr val="98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Data Quality and Monitor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49377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72 total counties in the shapefile.</a:t>
            </a:r>
          </a:p>
          <a:p>
            <a:pPr>
              <a:spcAft>
                <a:spcPts val="1000"/>
              </a:spcAft>
              <a:defRPr sz="1800"/>
            </a:pPr>
            <a:r>
              <a:t>16 counties with PM2.5 benchmark values.</a:t>
            </a:r>
          </a:p>
          <a:p>
            <a:pPr>
              <a:spcAft>
                <a:spcPts val="1000"/>
              </a:spcAft>
              <a:defRPr sz="1800"/>
            </a:pPr>
            <a:r>
              <a:t>Unmonitored counties are kept as missing in statewide mapping.</a:t>
            </a:r>
          </a:p>
        </p:txBody>
      </p:sp>
      <p:pic>
        <p:nvPicPr>
          <p:cNvPr id="4" name="Picture 3" descr="pm25_2024_chorople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005840"/>
            <a:ext cx="5943600" cy="54935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A5A5A"/>
                </a:solidFill>
              </a:defRPr>
            </a:pPr>
            <a:r>
              <a:t>Sources: EPA Air Trends, EPA AirData, GeoData@Wisconsin, U.S. Census. Rebuild date: 2026-07-13.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981C24"/>
          </a:solidFill>
          <a:ln>
            <a:solidFill>
              <a:srgbClr val="98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49377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Legacy estimator: mean daily PM2.5 by site, then unweighted mean across sites by county.</a:t>
            </a:r>
          </a:p>
          <a:p>
            <a:pPr>
              <a:spcAft>
                <a:spcPts val="1000"/>
              </a:spcAft>
              <a:defRPr sz="1800"/>
            </a:pPr>
            <a:r>
              <a:t>Legacy spatial model: Queen contiguity among monitored counties only.</a:t>
            </a:r>
          </a:p>
          <a:p>
            <a:pPr>
              <a:spcAft>
                <a:spcPts val="1000"/>
              </a:spcAft>
              <a:defRPr sz="1800"/>
            </a:pPr>
            <a:r>
              <a:t>Robustness model: KNN weights using projected county representative points.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A5A5A"/>
                </a:solidFill>
              </a:defRPr>
            </a:pPr>
            <a:r>
              <a:t>Sources: EPA Air Trends, EPA AirData, GeoData@Wisconsin, U.S. Census. Rebuild date: 2026-07-13.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981C24"/>
          </a:solidFill>
          <a:ln>
            <a:solidFill>
              <a:srgbClr val="98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Statewide Choropleth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49377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Statewide map preserves all counties.</a:t>
            </a:r>
          </a:p>
          <a:p>
            <a:pPr>
              <a:spcAft>
                <a:spcPts val="1000"/>
              </a:spcAft>
              <a:defRPr sz="1800"/>
            </a:pPr>
            <a:r>
              <a:t>Gray fill marks no monitoring data.</a:t>
            </a:r>
          </a:p>
          <a:p>
            <a:pPr>
              <a:spcAft>
                <a:spcPts val="1000"/>
              </a:spcAft>
              <a:defRPr sz="1800"/>
            </a:pPr>
            <a:r>
              <a:t>County means are descriptive monitoring summaries, not regulatory design values.</a:t>
            </a:r>
          </a:p>
        </p:txBody>
      </p:sp>
      <p:pic>
        <p:nvPicPr>
          <p:cNvPr id="4" name="Picture 3" descr="pm25_2024_chorople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005840"/>
            <a:ext cx="5943600" cy="54935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A5A5A"/>
                </a:solidFill>
              </a:defRPr>
            </a:pPr>
            <a:r>
              <a:t>Sources: EPA Air Trends, EPA AirData, GeoData@Wisconsin, U.S. Census. Rebuild date: 2026-07-13.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981C24"/>
          </a:solidFill>
          <a:ln>
            <a:solidFill>
              <a:srgbClr val="98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County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49377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Highest monitored county: Grant.</a:t>
            </a:r>
          </a:p>
          <a:p>
            <a:pPr>
              <a:spcAft>
                <a:spcPts val="1000"/>
              </a:spcAft>
              <a:defRPr sz="1800"/>
            </a:pPr>
            <a:r>
              <a:t>Lowest monitored county: Monroe.</a:t>
            </a:r>
          </a:p>
          <a:p>
            <a:pPr>
              <a:spcAft>
                <a:spcPts val="1000"/>
              </a:spcAft>
              <a:defRPr sz="1800"/>
            </a:pPr>
            <a:r>
              <a:t>Milwaukee and Dane each have two monitoring sites in the legacy benchmark table.</a:t>
            </a:r>
          </a:p>
        </p:txBody>
      </p:sp>
      <p:pic>
        <p:nvPicPr>
          <p:cNvPr id="4" name="Picture 3" descr="pm25_2024_ranked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005840"/>
            <a:ext cx="5943600" cy="42766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A5A5A"/>
                </a:solidFill>
              </a:defRPr>
            </a:pPr>
            <a:r>
              <a:t>Sources: EPA Air Trends, EPA AirData, GeoData@Wisconsin, U.S. Census. Rebuild date: 2026-07-13.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981C24"/>
          </a:solidFill>
          <a:ln>
            <a:solidFill>
              <a:srgbClr val="98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Global and Local Spatial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49377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Legacy Moran's I = -0.140.</a:t>
            </a:r>
          </a:p>
          <a:p>
            <a:pPr>
              <a:spcAft>
                <a:spcPts val="1000"/>
              </a:spcAft>
              <a:defRPr sz="1800"/>
            </a:pPr>
            <a:r>
              <a:t>Legacy Queen weights contain disconnected components and island counties.</a:t>
            </a:r>
          </a:p>
          <a:p>
            <a:pPr>
              <a:spcAft>
                <a:spcPts val="1000"/>
              </a:spcAft>
              <a:defRPr sz="1800"/>
            </a:pPr>
            <a:r>
              <a:t>Local Moran categories should not be described as robust clusters under the legacy graph.</a:t>
            </a:r>
          </a:p>
        </p:txBody>
      </p:sp>
      <p:pic>
        <p:nvPicPr>
          <p:cNvPr id="4" name="Picture 3" descr="lisa_cluster_map_leg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005840"/>
            <a:ext cx="5943600" cy="48710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A5A5A"/>
                </a:solidFill>
              </a:defRPr>
            </a:pPr>
            <a:r>
              <a:t>Sources: EPA Air Trends, EPA AirData, GeoData@Wisconsin, U.S. Census. Rebuild date: 2026-07-13.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981C24"/>
          </a:solidFill>
          <a:ln>
            <a:solidFill>
              <a:srgbClr val="98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Are the Spatial Results Robust?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493776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1150">
                <a:latin typeface="Menlo"/>
              </a:defRPr>
            </a:pPr>
            <a:r>
              <a:t>Spec      I        p      comps  islands</a:t>
            </a:r>
          </a:p>
          <a:p>
            <a:pPr>
              <a:spcAft>
                <a:spcPts val="300"/>
              </a:spcAft>
              <a:defRPr sz="1150">
                <a:latin typeface="Menlo"/>
              </a:defRPr>
            </a:pPr>
            <a:r>
              <a:t>Queen     -0.140  0.402      8        5</a:t>
            </a:r>
          </a:p>
          <a:p>
            <a:pPr>
              <a:spcAft>
                <a:spcPts val="300"/>
              </a:spcAft>
              <a:defRPr sz="1150">
                <a:latin typeface="Menlo"/>
              </a:defRPr>
            </a:pPr>
            <a:r>
              <a:t>KNN3      -0.097  0.461      1        0</a:t>
            </a:r>
          </a:p>
          <a:p>
            <a:pPr>
              <a:spcAft>
                <a:spcPts val="300"/>
              </a:spcAft>
              <a:defRPr sz="1150">
                <a:latin typeface="Menlo"/>
              </a:defRPr>
            </a:pPr>
            <a:r>
              <a:t>KNN4      -0.080  0.476      1        0</a:t>
            </a:r>
          </a:p>
          <a:p>
            <a:pPr>
              <a:spcAft>
                <a:spcPts val="300"/>
              </a:spcAft>
              <a:defRPr sz="1150">
                <a:latin typeface="Menlo"/>
              </a:defRPr>
            </a:pPr>
            <a:r>
              <a:t>KNN5      -0.029  0.307      1        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4846320"/>
            <a:ext cx="4937760" cy="1188720"/>
          </a:xfrm>
          <a:prstGeom prst="roundRect">
            <a:avLst/>
          </a:prstGeom>
          <a:solidFill>
            <a:srgbClr val="F8EFDD"/>
          </a:solidFill>
          <a:ln>
            <a:solidFill>
              <a:srgbClr val="98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/>
            </a:pPr>
            <a:r>
              <a:t>No significant global clustering under any tested spatial-weight definition; local cluster labels are sensitive to the neighborhood specification.</a:t>
            </a:r>
          </a:p>
        </p:txBody>
      </p:sp>
      <p:pic>
        <p:nvPicPr>
          <p:cNvPr id="5" name="Picture 4" descr="global_moran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005840"/>
            <a:ext cx="5943600" cy="38482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A5A5A"/>
                </a:solidFill>
              </a:defRPr>
            </a:pPr>
            <a:r>
              <a:t>Sources: EPA Air Trends, EPA AirData, GeoData@Wisconsin, U.S. Census. Rebuild date: 2026-07-13.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981C24"/>
          </a:solidFill>
          <a:ln>
            <a:solidFill>
              <a:srgbClr val="98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References and Team 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493776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EPA Air Trends and AirData</a:t>
            </a:r>
          </a:p>
          <a:p>
            <a:pPr>
              <a:spcAft>
                <a:spcPts val="1000"/>
              </a:spcAft>
              <a:defRPr sz="1800"/>
            </a:pPr>
            <a:r>
              <a:t>GeoData@Wisconsin / U.S. Census TIGER/Line</a:t>
            </a:r>
          </a:p>
          <a:p>
            <a:pPr>
              <a:spcAft>
                <a:spcPts val="1000"/>
              </a:spcAft>
              <a:defRPr sz="1800"/>
            </a:pPr>
            <a:r>
              <a:t>Yifang Qiu: analysis, spatial joining, choropleth mapping, county ranking, Global Moran's I, Local Moran's I, and 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A5A5A"/>
                </a:solidFill>
              </a:defRPr>
            </a:pPr>
            <a:r>
              <a:t>Sources: EPA Air Trends, EPA AirData, GeoData@Wisconsin, U.S. Census. Rebuild date: 2026-07-13.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